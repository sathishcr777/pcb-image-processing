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74320"/>
            <a:ext cx="3200400" cy="54864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274320"/>
            <a:ext cx="3200400" cy="54864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Problem Statement ID: 26179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INTELLIGENT RETAIL ANALYTICS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606040"/>
            <a:ext cx="393192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C9A7"/>
                </a:solidFill>
                <a:latin typeface="Segoe UI"/>
              </a:defRPr>
            </a:pPr>
            <a:r>
              <a:t>Edge AI-Powered Smart Cameras for Real-Time Retail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5661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BCCE"/>
                </a:solidFill>
                <a:latin typeface="Segoe UI"/>
              </a:defRPr>
            </a:pPr>
            <a:r>
              <a:t>Transforming Indian Retail with On-Device AI  •  Privacy-First  •  Cloud-Independent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389120"/>
            <a:ext cx="2194560" cy="9144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Smart Cameras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Computer 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4389120"/>
            <a:ext cx="2194560" cy="9144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Edge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On-Device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389120"/>
            <a:ext cx="2194560" cy="9144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Real-Time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Actionable Insights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4389120"/>
            <a:ext cx="2194560" cy="9144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4434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Privacy-First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48463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No PII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Organization: Qualcomm Inc  |  Category: Hardware  |  Theme: Smart Automation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01  |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Why Indian Retail Needs Intelligent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606040" cy="146304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4545"/>
                </a:solidFill>
                <a:latin typeface="Segoe UI"/>
              </a:defRPr>
            </a:pPr>
            <a:r>
              <a:t>1.2L 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Annual retail shrinkage in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06040" cy="146304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544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8C00"/>
                </a:solidFill>
                <a:latin typeface="Segoe UI"/>
              </a:defRPr>
            </a:pPr>
            <a:r>
              <a:t>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Stock-outs go undetected daily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606040" cy="146304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FF"/>
                </a:solidFill>
                <a:latin typeface="Segoe UI"/>
              </a:defRPr>
            </a:pPr>
            <a:r>
              <a:t>8-12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Average queue wait during peak hours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463040"/>
            <a:ext cx="2606040" cy="146304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06CFF"/>
                </a:solidFill>
                <a:latin typeface="Segoe UI"/>
              </a:defRPr>
            </a:pPr>
            <a:r>
              <a:t>65%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Stores lack digital analytics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11247120" cy="42976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46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Inventory shrinkage &amp; stock-outs cause massive revenue loss for retailers across India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11247120" cy="42976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49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Long billing queues lead to cart abandonment and poor customer experience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06240"/>
            <a:ext cx="11247120" cy="42976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51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251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Inefficient shelf replenishment — staff rely on manual checks, missing out-of-stock items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09160"/>
            <a:ext cx="11247120" cy="42976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Zero visibility into shopper behavior — no data on footfall, dwell time, or traffic patterns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11247120" cy="42976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257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Tier-2 and Tier-3 cities face unreliable internet — cloud-dependent solutions fail frequently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15000"/>
            <a:ext cx="11247120" cy="429768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760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Privacy concerns with traditional surveillance — customers distrust video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6309360"/>
            <a:ext cx="10332720" cy="4114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India's $950B retail market needs affordable, privacy-first, edge-powered intelligence that works offline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02  |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RetailEdge AI — Intelligent Retail Analytics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CCE"/>
                </a:solidFill>
                <a:latin typeface="Segoe UI"/>
              </a:defRPr>
            </a:pPr>
            <a:r>
              <a:t>An end-to-end edge AI platform that converts video streams from smart cameras into actionable retail insights — all processed locally on-device for real-time decisions, privacy compliance, and offline reliability.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356616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3474720" cy="508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Shopper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Customer counting (entry/exit)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Footfall trends by zone &amp; time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Dwell time measurement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Movement heatmaps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94560"/>
            <a:ext cx="356616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40280"/>
            <a:ext cx="3474720" cy="508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468880"/>
            <a:ext cx="457200" cy="45720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Inventory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17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Out-of-stock detection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Planogram compliance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Replenishment alerts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Real-time shelf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356616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2240280"/>
            <a:ext cx="34747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0" y="246888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Queue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017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Queue length monitoring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Congestion prediction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Counter opening alerts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Wait time measurement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80560"/>
            <a:ext cx="356616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526280"/>
            <a:ext cx="3474720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4754880"/>
            <a:ext cx="457200" cy="457200"/>
          </a:xfrm>
          <a:prstGeom prst="ellipse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Edge AI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On-device model inference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Offline-capable operation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Low-latency decisions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Reduced bandwidth costs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480560"/>
            <a:ext cx="356616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526280"/>
            <a:ext cx="34747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0" y="475488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Privacy-Aware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03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Anonymous tracking only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No PII storage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Local data processing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DPDP Act compliant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480560"/>
            <a:ext cx="3566160" cy="20116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4526280"/>
            <a:ext cx="347472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2480" y="4754880"/>
            <a:ext cx="457200" cy="4572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600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754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Operations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3035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Real-time alert system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Daily/weekly reports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KPI visualization</a:t>
            </a:r>
          </a:p>
          <a:p>
            <a:pPr algn="l">
              <a:spcAft>
                <a:spcPts val="429"/>
              </a:spcAft>
              <a:defRPr sz="1100" b="0">
                <a:solidFill>
                  <a:srgbClr val="B0BCCE"/>
                </a:solidFill>
                <a:latin typeface="Segoe UI"/>
              </a:defRPr>
            </a:pPr>
            <a:r>
              <a:t>  •  Multi-store monitoring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03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Edge-First, Cloud-Optional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1247120" cy="11887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FF"/>
                </a:solidFill>
                <a:latin typeface="Segoe UI"/>
              </a:defRPr>
            </a:pPr>
            <a:r>
              <a:t>LAYER 1: EDGE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Smart cameras with Qualcomm SoCs, depth sensors, edge TPUs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60020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18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965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IP Cameras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0020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618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TPU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65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Edge TPU/NPU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60020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618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GW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65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Local Gateway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160020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0" y="1618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1965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Edge 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743200"/>
            <a:ext cx="11247120" cy="11887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LAYER 2: EDGE AI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On-device inference with optimized models (YOLOv8, MobileNet, DeepSORT)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92608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9443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DET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91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Object Detection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292608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29443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TRK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291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People Tracking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292608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29443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PSE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291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Pose Estimation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292608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29443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SHF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3291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Shelf Analysis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069080"/>
            <a:ext cx="11247120" cy="11887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LAYER 3: ANALYTICS &amp;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89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Real-time analytics pipeline, alerting, and business logic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425196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2702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ANL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Analytics Engine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425196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42702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ALR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Alert System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69680" y="425196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42702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TRD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Trend Analysis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32720" y="425196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32720" y="42702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PRD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32720" y="4617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Predictions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394960"/>
            <a:ext cx="11247120" cy="11887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Segoe UI"/>
              </a:defRPr>
            </a:pPr>
            <a:r>
              <a:t>LAYER 4: DASHBOARD &amp; INTEGRATION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Web dashboard, mobile app, POS/ERP integration, cloud sync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0" y="557784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55961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Segoe UI"/>
              </a:defRPr>
            </a:pPr>
            <a:r>
              <a:t>WEB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943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Web Dashboard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06640" y="557784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55961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Segoe UI"/>
              </a:defRPr>
            </a:pPr>
            <a:r>
              <a:t>MOB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5943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557784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0" y="55961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Segoe UI"/>
              </a:defRPr>
            </a:pPr>
            <a:r>
              <a:t>API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943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POS/ERP API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332720" y="5577840"/>
            <a:ext cx="1280160" cy="77724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32720" y="55961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Segoe UI"/>
              </a:defRPr>
            </a:pPr>
            <a:r>
              <a:t>CLD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2720" y="5943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0BCCE"/>
                </a:solidFill>
                <a:latin typeface="Segoe UI"/>
              </a:defRPr>
            </a:pPr>
            <a:r>
              <a:t>Cloud Sync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v  v  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3931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v  v  v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60720" y="5257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v  v  v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04  |  SHOPPER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Understanding Customer Behavior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10972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People Counting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Bi-directional counters at entry/exit using YOLOv8 + DeepSORT tracking. 97%+ accuracy even in crowded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5486400" cy="10972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Zone-Based Footfall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Divide store into zones — track how many customers visit each section by time of day, day of week.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486400" cy="10972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Dwell Time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Measure how long shoppers spend near specific products, promotions, or displays to gauge engagement.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66360"/>
            <a:ext cx="5486400" cy="10972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Movement Heatmaps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Aggregate anonymous trajectory data into visual heatmaps showing high-traffic and dead zones.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5303520" cy="22860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A7"/>
                </a:solidFill>
                <a:latin typeface="Segoe UI"/>
              </a:defRPr>
            </a:pPr>
            <a:r>
              <a:t>Sample Analytics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Today's Footfall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Segoe UI"/>
              </a:defRPr>
            </a:pPr>
            <a:r>
              <a:t>2,847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Up 12% vs last week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Avg Dwell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FF"/>
                </a:solidFill>
                <a:latin typeface="Segoe UI"/>
              </a:defRPr>
            </a:pPr>
            <a:r>
              <a:t>4.2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423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Electronics section highest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Peak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Segoe UI"/>
              </a:defRPr>
            </a:pPr>
            <a:r>
              <a:t>11AM - 1PM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6PM - 8PM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Conversion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A7"/>
                </a:solidFill>
                <a:latin typeface="Segoe UI"/>
              </a:defRPr>
            </a:pPr>
            <a:r>
              <a:t>34%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Up 3% after layout change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931920"/>
            <a:ext cx="5303520" cy="25603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Store Heatmap Visualization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480560"/>
            <a:ext cx="777240" cy="34747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5262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Entry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80" y="4480560"/>
            <a:ext cx="777240" cy="34747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80" y="45262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Promo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448056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5262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Grocery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4039" y="448056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39" y="45262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Electr.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32720" y="4480560"/>
            <a:ext cx="77724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452628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Billing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489204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26680" y="4892040"/>
            <a:ext cx="777240" cy="34747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4892040"/>
            <a:ext cx="777240" cy="34747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64039" y="489204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332720" y="4892040"/>
            <a:ext cx="777240" cy="3474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0" y="5303520"/>
            <a:ext cx="77724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26680" y="530352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95360" y="530352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64039" y="5303520"/>
            <a:ext cx="77724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32720" y="5303520"/>
            <a:ext cx="77724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58000" y="5715000"/>
            <a:ext cx="777240" cy="34747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26680" y="5715000"/>
            <a:ext cx="77724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595360" y="571500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64039" y="5715000"/>
            <a:ext cx="777240" cy="347472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32720" y="5715000"/>
            <a:ext cx="777240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Red=High  Orange=Medium  Green=Low  Teal=Very Low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05  |  INVENTORY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AI-Powered Shelf Intelligence &amp; Stock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669280" cy="5029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A7"/>
                </a:solidFill>
                <a:latin typeface="Segoe UI"/>
              </a:defRPr>
            </a:pPr>
            <a:r>
              <a:t>How Shelf Monitoring Works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96596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659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9842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Shelf-facing cameras continuously capture product shelf images at configurable intervals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C9A7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78892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88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072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YOLOv8 model identifies products, empty spaces, and misplaced items on shelves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72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C9A7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11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63016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AI compares current shelf state against planogram (ideal layout) 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59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C9A7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43484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434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445312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Instant notifications sent to staff mobile app for out-of-stock or non-compliant shelves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188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C9A7"/>
                </a:solidFill>
                <a:latin typeface="Segoe UI"/>
              </a:defRPr>
            </a:pPr>
            <a:r>
              <a:t>|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257800"/>
            <a:ext cx="365760" cy="36576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257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527608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Historical data tracks replenishment patterns, product velocity, and shrinkage trends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Stock Status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Dairy Products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965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||||||||||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Snacks &amp; Beverages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377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78%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377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BFF"/>
                </a:solidFill>
                <a:latin typeface="Segoe UI"/>
              </a:defRPr>
            </a:pPr>
            <a:r>
              <a:t>||||||||..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Personal Care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2788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Segoe UI"/>
              </a:defRPr>
            </a:pPr>
            <a:r>
              <a:t>45%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788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8C00"/>
                </a:solidFill>
                <a:latin typeface="Segoe UI"/>
              </a:defRPr>
            </a:pPr>
            <a:r>
              <a:t>|||||.....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32004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Electronics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Segoe UI"/>
              </a:defRPr>
            </a:pPr>
            <a:r>
              <a:t>23%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4545"/>
                </a:solidFill>
                <a:latin typeface="Segoe UI"/>
              </a:defRPr>
            </a:pPr>
            <a:r>
              <a:t>|||.......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840480"/>
            <a:ext cx="5303520" cy="25603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Segoe UI"/>
              </a:defRPr>
            </a:pPr>
            <a:r>
              <a:t>Planogram 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389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[OK]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Correct product placement detected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7091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Segoe UI"/>
              </a:defRPr>
            </a:pPr>
            <a:r>
              <a:t>[!!]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Misplaced items identified &amp; flagged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029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545"/>
                </a:solidFill>
                <a:latin typeface="Segoe UI"/>
              </a:defRPr>
            </a:pPr>
            <a:r>
              <a:t>[XX]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Empty shelf spaces trigger alerts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3492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7BFF"/>
                </a:solidFill>
                <a:latin typeface="Segoe UI"/>
              </a:defRPr>
            </a:pPr>
            <a:r>
              <a:t>[&gt;&gt;]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53492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Overall compliance score: 87%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5669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C9A7"/>
                </a:solidFill>
                <a:latin typeface="Segoe UI"/>
              </a:defRPr>
            </a:pPr>
            <a:r>
              <a:t>[!!]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5669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Auto-alerts to store staff via app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5989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[UP]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5989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30% reduction in stock-out duration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06  |  QUEUE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Predictive Queue Management &amp; Customer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7772400" cy="5029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Real-Time Queue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7223760" cy="3657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Counter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Queue Length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4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Est. 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9933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77440"/>
            <a:ext cx="72237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Counter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3 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~4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Counter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Segoe UI"/>
              </a:defRPr>
            </a:pPr>
            <a:r>
              <a:t>7 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4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Segoe UI"/>
              </a:defRPr>
            </a:pPr>
            <a:r>
              <a:t>~9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145536"/>
            <a:ext cx="72237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Counter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67712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Segoe UI"/>
              </a:defRPr>
            </a:pPr>
            <a:r>
              <a:t>12 people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464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545"/>
                </a:solidFill>
                <a:latin typeface="Segoe UI"/>
              </a:defRPr>
            </a:pPr>
            <a:r>
              <a:t>~15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7216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3172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557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Counter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7712" y="3557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12464" y="3557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3557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CLOSED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3557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Segoe UI"/>
              </a:defRPr>
            </a:pPr>
            <a:r>
              <a:t>Open Now!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13632"/>
            <a:ext cx="72237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941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Counter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67712" y="3941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4" y="3941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---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3941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39410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Standby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389120"/>
            <a:ext cx="7223760" cy="1737360"/>
          </a:xfrm>
          <a:prstGeom prst="roundRect">
            <a:avLst/>
          </a:prstGeom>
          <a:solidFill>
            <a:srgbClr val="1525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480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Segoe UI"/>
              </a:defRPr>
            </a:pPr>
            <a:r>
              <a:t>AI Prediction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92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ALERT: Counter 3 queue exceeding threshold — recommend opening Counter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51846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Predicted peak: 6:30 PM - 7:30 PM — suggest staffing 4 counters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4772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Average wait time trend: 6.2 min (down 18% since AI deployment)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76986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Customer satisfaction score: 4.2/5 (up 0.6 post-implementation)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1371600"/>
            <a:ext cx="3200400" cy="5029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Key Benefits</a:t>
            </a:r>
          </a:p>
        </p:txBody>
      </p:sp>
      <p:sp>
        <p:nvSpPr>
          <p:cNvPr id="50" name="Oval 49"/>
          <p:cNvSpPr/>
          <p:nvPr/>
        </p:nvSpPr>
        <p:spPr>
          <a:xfrm>
            <a:off x="8869680" y="192024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35%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1965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Reduction in average wait time</a:t>
            </a:r>
          </a:p>
        </p:txBody>
      </p:sp>
      <p:sp>
        <p:nvSpPr>
          <p:cNvPr id="52" name="Oval 51"/>
          <p:cNvSpPr/>
          <p:nvPr/>
        </p:nvSpPr>
        <p:spPr>
          <a:xfrm>
            <a:off x="8869680" y="278892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2834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Queue prediction accuracy</a:t>
            </a:r>
          </a:p>
        </p:txBody>
      </p:sp>
      <p:sp>
        <p:nvSpPr>
          <p:cNvPr id="54" name="Oval 53"/>
          <p:cNvSpPr/>
          <p:nvPr/>
        </p:nvSpPr>
        <p:spPr>
          <a:xfrm>
            <a:off x="8869680" y="365760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3703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Increase in customer throughput</a:t>
            </a:r>
          </a:p>
        </p:txBody>
      </p:sp>
      <p:sp>
        <p:nvSpPr>
          <p:cNvPr id="56" name="Oval 55"/>
          <p:cNvSpPr/>
          <p:nvPr/>
        </p:nvSpPr>
        <p:spPr>
          <a:xfrm>
            <a:off x="8869680" y="4526279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09760" y="45719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Reduction in cart abandonment</a:t>
            </a:r>
          </a:p>
        </p:txBody>
      </p:sp>
      <p:sp>
        <p:nvSpPr>
          <p:cNvPr id="58" name="Oval 57"/>
          <p:cNvSpPr/>
          <p:nvPr/>
        </p:nvSpPr>
        <p:spPr>
          <a:xfrm>
            <a:off x="8869680" y="5394960"/>
            <a:ext cx="502920" cy="50292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300">
                <a:solidFill>
                  <a:srgbClr val="FFFFFF"/>
                </a:solidFill>
              </a:defRPr>
            </a:pPr>
            <a:r>
              <a:t>3x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5440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Faster response to congestion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07  |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Edge AI Processing &amp; Technical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97480" cy="29260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AI/ML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YOLOv8-nano — Object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MobileNetV3 — Product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DeepSORT — Multi-object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LSTM — Queue time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OpenCV — Image preprocessing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371600"/>
            <a:ext cx="2697480" cy="29260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Edge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Qualcomm QCS6490 / QCS8550 SoC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317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Qualcomm AI Engine (Hexagon DSP)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97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NVIDIA Jetson Orin Nano (alt)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Google Coral Edge TPU (alt)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4-8 GB RAM, 64 GB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71600"/>
            <a:ext cx="2697480" cy="29260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Software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Qualcomm SNPE / QNN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317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ONNX Runtime for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97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Python + FastAPI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React.js dashboard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SQLite (edge) + PostgreSQL (cloud)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371600"/>
            <a:ext cx="2697480" cy="29260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463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Segoe UI"/>
              </a:defRPr>
            </a:pPr>
            <a:r>
              <a:t>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9659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MQTT for real-time messaging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3317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REST APIs for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26974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WebSocket for live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3063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RTSP for camera streams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3429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&gt; gRPC for microservices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80560"/>
            <a:ext cx="11247120" cy="21031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Why Edge AI? — Edge vs Cloud Processing Comparison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29200"/>
            <a:ext cx="1069848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Cloud Processing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Edge AI (Ours)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047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Advantage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394960"/>
            <a:ext cx="10698480" cy="301752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413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Latency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5413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200-500ms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413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10-50ms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54132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A7"/>
                </a:solidFill>
                <a:latin typeface="Segoe UI"/>
              </a:defRPr>
            </a:pPr>
            <a:r>
              <a:t>5-10x faster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715000"/>
            <a:ext cx="10698480" cy="301752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733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Bandwidth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5733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5-20 Mbps/camera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733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&lt; 0.1 Mbps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57332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A7"/>
                </a:solidFill>
                <a:latin typeface="Segoe UI"/>
              </a:defRPr>
            </a:pPr>
            <a:r>
              <a:t>99% reduction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6035040"/>
            <a:ext cx="10698480" cy="301752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Privacy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472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Data leaves premise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Local processing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6053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A7"/>
                </a:solidFill>
                <a:latin typeface="Segoe UI"/>
              </a:defRPr>
            </a:pPr>
            <a:r>
              <a:t>DPDP compliant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6355079"/>
            <a:ext cx="10698480" cy="301752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637336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Offline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0" y="637336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Fails without internet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637336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Fully functional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637336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C9A7"/>
                </a:solidFill>
                <a:latin typeface="Segoe UI"/>
              </a:defRPr>
            </a:pPr>
            <a:r>
              <a:t>100% uptime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08  |  PRIVACY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Privacy-by-Design for Responsible Retail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15087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Segoe UI"/>
              </a:defRPr>
            </a:pPr>
            <a:r>
              <a:t>No Facial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659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System uses anonymous blob detection and skeletal tracking. No faces are captured, stored, or processed at any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577840" cy="15087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37960" y="164592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Local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96596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All video analysis happens on-device. Raw video never leaves the store premises. Only aggregated metadata is transmitted.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5577840" cy="15087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No PII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576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No personally identifiable information is collected. Tracking uses anonymous IDs that reset every session.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63240"/>
            <a:ext cx="5577840" cy="15087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60" y="333756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246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DPDP Act Compliant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65760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Designed to comply with India's Digital Personal Data Protection Act 2023. Data minimization and purpose limitation built-in.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5577840" cy="15087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" y="5029200"/>
            <a:ext cx="548640" cy="548640"/>
          </a:xfrm>
          <a:prstGeom prst="ellipse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Segoe UI"/>
              </a:defRPr>
            </a:pPr>
            <a:r>
              <a:t>Encrypted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4924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All data at rest and in transit is encrypted. Edge-to-cloud sync uses TLS 1.3. Local storage uses AES-256.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754880"/>
            <a:ext cx="5577840" cy="150876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37960" y="5029200"/>
            <a:ext cx="548640" cy="54864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000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Transparency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349240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Clear signage in stores about analytics. Customers informed about anonymous monitoring. Full audit trail maintained.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09  |  DASHBOARD &amp;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Real-Time Operations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03120" cy="1371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Total Footfall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Up 12%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71600"/>
            <a:ext cx="2103120" cy="1371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Avg Wait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4.2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Down 35% Current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371600"/>
            <a:ext cx="2103120" cy="1371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Stock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Down 3% Real-time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59" y="1371600"/>
            <a:ext cx="2103120" cy="1371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Up 5% 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371600"/>
            <a:ext cx="2103120" cy="13716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Planogram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7373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Up 8% Compliance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017520"/>
            <a:ext cx="2697480" cy="25603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08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Segoe UI"/>
              </a:defRPr>
            </a:pPr>
            <a:r>
              <a:t>Real-Time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Instant stock-out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931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Queue congestion warnings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297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Planogram violation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Staff deployment suggestions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017520"/>
            <a:ext cx="2697480" cy="25603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108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Analytics Reports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Daily footfall 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931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Weekly trend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297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Peak hour identification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Zone performance ranking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017520"/>
            <a:ext cx="2697480" cy="25603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108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Multi-Store 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Centralized 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931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Cross-store comparisons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297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Regional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Chain-wide KPI tracking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3017520"/>
            <a:ext cx="2697480" cy="25603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310896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Segoe UI"/>
              </a:defRPr>
            </a:pPr>
            <a:r>
              <a:t>Integrations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56616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POS system sync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393192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ERP/SAP connectors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29768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Inventory management APIs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46634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Staff scheduling systems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852160"/>
            <a:ext cx="11247120" cy="6400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C9A7"/>
                </a:solidFill>
                <a:latin typeface="Segoe UI"/>
              </a:defRPr>
            </a:pPr>
            <a:r>
              <a:t>Dashboard accessible via Web (React.js), Mobile App (React Native), and API endpoints for custom integrations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10  |  SCALABILITY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From Kirana Stores to Retail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4114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55448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>
                <a:solidFill>
                  <a:srgbClr val="FFFFFF"/>
                </a:solidFill>
              </a:defRPr>
            </a:pPr>
            <a: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E676"/>
                </a:solidFill>
                <a:latin typeface="Segoe UI"/>
              </a:defRPr>
            </a:pPr>
            <a: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Kirana / Small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1-2 cameras, single edge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Entry/exit counting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Basic queue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Simple stock alerts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Mobile-only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983480"/>
            <a:ext cx="2286000" cy="3657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10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Rs.15-25K setup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371600"/>
            <a:ext cx="3566160" cy="4114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69280" y="1554480"/>
            <a:ext cx="731520" cy="731520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>
                <a:solidFill>
                  <a:srgbClr val="FFFFFF"/>
                </a:solidFill>
              </a:defRPr>
            </a:pPr>
            <a:r>
              <a:t>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7BFF"/>
                </a:solidFill>
                <a:latin typeface="Segoe UI"/>
              </a:defRPr>
            </a:pPr>
            <a:r>
              <a:t>TIER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Supermarket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4-8 cameras, dedicated edge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Full shopper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Multi-zone heatmaps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Shelf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891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Queue prediction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983480"/>
            <a:ext cx="2286000" cy="36576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5010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Rs.75K-1.5L setup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371600"/>
            <a:ext cx="3566160" cy="41148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09760" y="1554480"/>
            <a:ext cx="731520" cy="7315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>
                <a:solidFill>
                  <a:srgbClr val="FFFFFF"/>
                </a:solidFill>
              </a:defRPr>
            </a:pPr>
            <a:r>
              <a:t>T3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8C00"/>
                </a:solidFill>
                <a:latin typeface="Segoe UI"/>
              </a:defRPr>
            </a:pPr>
            <a:r>
              <a:t>TIER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Retail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10+ cameras/store, centralized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429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Multi-store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Chain-wide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069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ERP/POS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3891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&gt; Custom AI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4983480"/>
            <a:ext cx="2286000" cy="3657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5010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Rs.2-5L per store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760720"/>
            <a:ext cx="11247120" cy="7315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8064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D700"/>
                </a:solidFill>
                <a:latin typeface="Segoe UI"/>
              </a:defRPr>
            </a:pPr>
            <a:r>
              <a:t>Modular Architecture — Start Small, Scale Fast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0807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Add cameras, upgrade edge hardware, or connect to cloud — all without redesigning the system. Supports Docker containerized deployment.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11  | 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Measurable ROI for Every Retailer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97480" cy="2743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C9A7"/>
                </a:solidFill>
                <a:latin typeface="Segoe UI"/>
              </a:defRPr>
            </a:pPr>
            <a:r>
              <a:t>Down 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Stock-out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AI-powered shelf monitoring detects gaps 10x faster than manual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97480" cy="2743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544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8C00"/>
                </a:solidFill>
                <a:latin typeface="Segoe UI"/>
              </a:defRPr>
            </a:pPr>
            <a:r>
              <a:t>Down 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884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Queue Wait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60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Predictive queue management reduces customer wait and cart abandonment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697480" cy="2743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E676"/>
                </a:solidFill>
                <a:latin typeface="Segoe UI"/>
              </a:defRPr>
            </a:pPr>
            <a:r>
              <a:t>Up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4884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Revenue Increase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60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Better stock availability + faster checkout = more completed transactions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697480" cy="2743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55448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7BFF"/>
                </a:solidFill>
                <a:latin typeface="Segoe UI"/>
              </a:defRPr>
            </a:pPr>
            <a:r>
              <a:t>Up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4884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Staff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560320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CCE"/>
                </a:solidFill>
                <a:latin typeface="Segoe UI"/>
              </a:defRPr>
            </a:pPr>
            <a:r>
              <a:t>Data-driven task allocation replaces reactive manual checks with proactive alerts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Segoe UI"/>
              </a:defRPr>
            </a:pPr>
            <a:r>
              <a:t>ROI Timeline — Payback in 6-8 Months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2560320" cy="155448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Month 1-2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Deploy &amp; Configure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Camera installation, model training, baseline data collection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4846320"/>
            <a:ext cx="2560320" cy="155448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C9A7"/>
                </a:solidFill>
                <a:latin typeface="Segoe UI"/>
              </a:defRPr>
            </a:pPr>
            <a:r>
              <a:t>Month 3-4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Initial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Stock-outs down 20%, queue alerts active, first insights generated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846320"/>
            <a:ext cx="2560320" cy="155448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Month 5-6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Full 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AI models refined, 35% efficiency gain, staff scheduling optimized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79" y="4846320"/>
            <a:ext cx="2560320" cy="1554480"/>
          </a:xfrm>
          <a:prstGeom prst="roundRect">
            <a:avLst/>
          </a:prstGeom>
          <a:solidFill>
            <a:srgbClr val="0A152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79" y="4892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700"/>
                </a:solidFill>
                <a:latin typeface="Segoe UI"/>
              </a:defRPr>
            </a:pPr>
            <a:r>
              <a:t>Month 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Scaled 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19" y="54864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Full payback achieved, expanding to more store sections &amp; locations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12  | 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Sets RetailEdge AI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813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Cloud-Only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4813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Basic CCTV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813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Existing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4813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RetailEdge AI (Ours)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108813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842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Edge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984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84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9842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9842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YES - Full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350008"/>
            <a:ext cx="10881360" cy="3657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682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Offline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682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682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Record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36829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6829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YES - Full 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34056"/>
            <a:ext cx="108813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523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Real-time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7523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High 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7523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75234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Delayed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75234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YES &lt;50ms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118104"/>
            <a:ext cx="10881360" cy="3657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136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Privacy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136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Data leaves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136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No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1363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136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DPDP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502152"/>
            <a:ext cx="108813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Shopper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520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3520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520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Basic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520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Advanced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9044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Shelf Monitoring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39044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Delayed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39044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9044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Manual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9044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Automated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4270248"/>
            <a:ext cx="108813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28853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Queue Prediction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Slow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2064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4288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4288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Predictive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654296"/>
            <a:ext cx="10881360" cy="3657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672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Multi-store Mgmt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46725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E676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46725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46725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46725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Centralized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" y="5038344"/>
            <a:ext cx="10881360" cy="36576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056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Cost (per store/mo)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0" y="5056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Rs.15-30K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0640" y="5056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Rs.2-5K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0" y="50566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CCE"/>
                </a:solidFill>
                <a:latin typeface="Segoe UI"/>
              </a:defRPr>
            </a:pPr>
            <a:r>
              <a:t>Rs.10-20K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50566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Rs.5-10K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5422392"/>
            <a:ext cx="10881360" cy="36576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India-Optimized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0" y="5440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0640" y="5440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4545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0" y="5440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8C00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5440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Segoe UI"/>
              </a:defRPr>
            </a:pPr>
            <a:r>
              <a:t>Built for India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15400" y="1417320"/>
            <a:ext cx="22860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15400" y="5806440"/>
            <a:ext cx="2286000" cy="457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FF"/>
                </a:solidFill>
                <a:latin typeface="Segoe UI"/>
              </a:defRPr>
            </a:pPr>
            <a:r>
              <a:t>13  | 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36-Hour Hackathon to Production-Ready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74320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Segoe UI"/>
              </a:defRPr>
            </a:pPr>
            <a:r>
              <a:t>36-Hour SIH Hackathon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37160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Hours 0-6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38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Setup &amp;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Camera setup &amp; RTSP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Edge device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Base model deployment (YOLOv8)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1371600" cy="32004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Hours 6-14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Segoe UI"/>
              </a:defRPr>
            </a:pPr>
            <a:r>
              <a:t>Core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88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People counting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Queue monitoring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37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Basic shelf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137160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Hours 14-22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6758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Segoe UI"/>
              </a:defRPr>
            </a:pPr>
            <a:r>
              <a:t>Analytics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Heatmap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Dwell time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Queue prediction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26279"/>
            <a:ext cx="1371600" cy="320040"/>
          </a:xfrm>
          <a:prstGeom prst="round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445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Hours 22-30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54456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Segoe UI"/>
              </a:defRPr>
            </a:pPr>
            <a:r>
              <a:t>Dashboard &amp;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5262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React dashboard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80059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Real-time WebSocket feeds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0749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Alert notification system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137160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413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Hours 30-36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413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Polish &amp;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394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End-to-end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669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Demo scenario preparation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* Pitch deck finalization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1371600"/>
            <a:ext cx="5577840" cy="50292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Post-Hackathon Roadmap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920240"/>
            <a:ext cx="1188720" cy="320040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19385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Q1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FF"/>
                </a:solidFill>
                <a:latin typeface="Segoe UI"/>
              </a:defRPr>
            </a:pPr>
            <a:r>
              <a:t>MVP Refinement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Production model optimization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Qualcomm SNPE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Beta testing in 3 pilot stores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2971800"/>
            <a:ext cx="1188720" cy="320040"/>
          </a:xfrm>
          <a:prstGeom prst="round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9900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29900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A7"/>
                </a:solidFill>
                <a:latin typeface="Segoe UI"/>
              </a:defRPr>
            </a:pPr>
            <a:r>
              <a:t>Feature Expansion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29718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Advanced planogram compliance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3246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Multi-camera fusion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3520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POS system integration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023360"/>
            <a:ext cx="1188720" cy="32004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40416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041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Segoe UI"/>
              </a:defRPr>
            </a:pPr>
            <a:r>
              <a:t>Scale &amp; Optimize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40233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Multi-store deployment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20" y="42976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Model retraining pipeline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4572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Performance benchmarking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5074919"/>
            <a:ext cx="1188720" cy="32004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09320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5093207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76"/>
                </a:solidFill>
                <a:latin typeface="Segoe UI"/>
              </a:defRPr>
            </a:pPr>
            <a:r>
              <a:t>Market Launch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8320" y="507491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Retail chain partnerships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534923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SaaS pricing 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56235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CCE"/>
                </a:solidFill>
                <a:latin typeface="Segoe UI"/>
              </a:defRPr>
            </a:pPr>
            <a:r>
              <a:t>&gt; Pan-India rollout strategy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7680" y="365760"/>
            <a:ext cx="3657600" cy="54864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80560" y="411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Segoe UI"/>
              </a:defRPr>
            </a:pPr>
            <a:r>
              <a:t>SMART INDIA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148840"/>
            <a:ext cx="3017520" cy="3810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C9A7"/>
                </a:solidFill>
                <a:latin typeface="Segoe UI"/>
              </a:defRPr>
            </a:pPr>
            <a:r>
              <a:t>RetailEdge AI — Transforming Indian Retail with Edge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9418320" cy="228600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FF"/>
                </a:solidFill>
                <a:latin typeface="Segoe UI"/>
              </a:defRPr>
            </a:pPr>
            <a: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65760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&gt;&gt; Edge-first architecture — works offline, ensures privacy, delivers real-time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99592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&gt;&gt; Comprehensive retail intelligence — shopper analytics, inventory, queues in one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34256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&gt;&gt; Affordable &amp; scalable — from Rs.15K kirana stores to multi-crore retail chains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72583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&gt;&gt; Built for India — optimized for Tier-2/3 cities with unreliable 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1091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CCE"/>
                </a:solidFill>
                <a:latin typeface="Segoe UI"/>
              </a:defRPr>
            </a:pPr>
            <a:r>
              <a:t>&gt;&gt; Qualcomm-powered — leveraging industry-leading edge AI hardware for maximum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623560"/>
            <a:ext cx="6675120" cy="731520"/>
          </a:xfrm>
          <a:prstGeom prst="roundRect">
            <a:avLst/>
          </a:prstGeom>
          <a:solidFill>
            <a:srgbClr val="122B4F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0" y="566928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A7"/>
                </a:solidFill>
                <a:latin typeface="Segoe UI"/>
              </a:defRPr>
            </a:pPr>
            <a:r>
              <a:t>Problem Statement ID: 26179  |  Category: Hardware  |  Theme: Smart Automation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98932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CCE"/>
                </a:solidFill>
                <a:latin typeface="Segoe UI"/>
              </a:defRPr>
            </a:pPr>
            <a:r>
              <a:t>Organization: Qualcomm Inc  |  "Edge AI for a Smarter Retail India"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