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926080"/>
          </a:xfrm>
          <a:prstGeom prst="rect">
            <a:avLst/>
          </a:prstGeom>
          <a:solidFill>
            <a:srgbClr val="111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3474720" cy="50292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931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Segoe UI"/>
              </a:defRPr>
            </a:pPr>
            <a:r>
              <a:t>SMART INDIA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365760"/>
            <a:ext cx="3474720" cy="50292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3931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Problem Statement  #26179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R E T A I L E D G E   A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Segoe UI"/>
              </a:defRPr>
            </a:pPr>
            <a:r>
              <a:t>Intelligent Retail Analytics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52044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94A3B8"/>
                </a:solidFill>
                <a:latin typeface="Segoe UI"/>
              </a:defRPr>
            </a:pPr>
            <a:r>
              <a:t>Real-time shopper analytics, automated inventory visibility, and proactive</a:t>
            </a:r>
            <a:br/>
            <a:r>
              <a:t>queue management — powered entirely by on-device Edge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846320"/>
            <a:ext cx="3108960" cy="109728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310896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Edge-First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303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All AI runs on-device. Zero cloud dependency.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4846320"/>
            <a:ext cx="3108960" cy="109728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63440" y="4846320"/>
            <a:ext cx="31089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Privacy by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303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No facial recognition. No PII stored. Ever.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846320"/>
            <a:ext cx="3108960" cy="109728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4846320"/>
            <a:ext cx="31089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Built for Bharat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303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Works offline in Tier-2/3 cities. Affordable at scale.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62636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Qualcomm Inc  |  Hardware  |  Smart Automation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India's Retail Sector Is Flying Blind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India's $950 billion retail market serves 1.4 billion people through 14+ million stores. Yet most retailers — especially in Tier-2 and Tier-3 cities — operate without any data-driven insights, losing crores to preventable inefficiencies every single 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651760" cy="210312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265176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  <a:latin typeface="Segoe UI"/>
              </a:defRPr>
            </a:pPr>
            <a:r>
              <a:t>Rs. 1.2 Lakh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Lost annually to inventory shrinkage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That's 2-3% of total retail revenue — gone.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286000"/>
            <a:ext cx="2651760" cy="210312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2286000"/>
            <a:ext cx="26517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8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40% Stock-Outs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Go completely undetected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Customers leave, buy from competitors — silently.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86000"/>
            <a:ext cx="2651760" cy="210312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286000"/>
            <a:ext cx="265176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8-12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Average queue wait at peak hours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67% of shoppers abandon carts due to long queues.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2286000"/>
            <a:ext cx="2651760" cy="210312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89720" y="2286000"/>
            <a:ext cx="265176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7260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65% of Stores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Have zero digital analytics capability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Decisions made on gut feel, not data. Every single day.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72000"/>
            <a:ext cx="11064240" cy="182880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663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Why Existing Solutions Fail in India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2920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Cloud-dependent systems fail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02920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Most retail analytics need constant internet. 40% of Tier-2/3 India has unreliable connectivity — systems go down when you need them most.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48640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Privacy violations erode trust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48640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Traditional CCTV analytics send video to cloud servers. This violates India's DPDP Act 2023 and destroys customer trust.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94360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Too expensive for small retailers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94360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Enterprise analytics cost Rs. 20-50K/month per store. India's 12 million kirana stores can't afford this — they're locked out of the AI revolution.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Introducing RetailEdge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280160"/>
          </a:xfrm>
          <a:prstGeom prst="roundRect">
            <a:avLst/>
          </a:prstGeom>
          <a:solidFill>
            <a:srgbClr val="1A224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RetailEdge AI is an end-to-end platform that connects smart cameras to on-device AI processors, converting live video feeds into actionable retail intelligence — shopper behavior, inventory status, and queue health — all processed locally on edge hardware. No cloud required. No PII stored. Works offline. Affordable for every Indian retailer from a corner kirana to a national chain.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Three Capabilities. One Platform. Zero Cloud Dependency.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37560"/>
            <a:ext cx="3520440" cy="320040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3337560"/>
            <a:ext cx="35204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4930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Shopper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Understand who goes where, for how long, and why.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Bi-directional people counting at entry/exit points with 97%+ accuracy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29768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782312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Zone-wise footfall analysis — which aisles attract traffic, which are dead zones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82803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312664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Dwell time measurement near products, promotions, and end-cap displays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35838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843015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Anonymous trajectory heatmaps revealing movement patterns across the store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5888735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43400" y="3337560"/>
            <a:ext cx="3520440" cy="320040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337560"/>
            <a:ext cx="352044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526280" y="347472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4930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Inventory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8862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Know what's on your shelves — before your customers 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25196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Real-time out-of-stock detection using shelf-facing camera analysis</a:t>
            </a:r>
          </a:p>
        </p:txBody>
      </p:sp>
      <p:sp>
        <p:nvSpPr>
          <p:cNvPr id="28" name="Oval 27"/>
          <p:cNvSpPr/>
          <p:nvPr/>
        </p:nvSpPr>
        <p:spPr>
          <a:xfrm>
            <a:off x="4526280" y="429768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4782312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Planogram compliance scoring — is the right product in the right place?</a:t>
            </a:r>
          </a:p>
        </p:txBody>
      </p:sp>
      <p:sp>
        <p:nvSpPr>
          <p:cNvPr id="30" name="Oval 29"/>
          <p:cNvSpPr/>
          <p:nvPr/>
        </p:nvSpPr>
        <p:spPr>
          <a:xfrm>
            <a:off x="4526280" y="482803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26280" y="5312664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Instant mobile alerts to floor staff when shelves need replenishment</a:t>
            </a:r>
          </a:p>
        </p:txBody>
      </p:sp>
      <p:sp>
        <p:nvSpPr>
          <p:cNvPr id="32" name="Oval 31"/>
          <p:cNvSpPr/>
          <p:nvPr/>
        </p:nvSpPr>
        <p:spPr>
          <a:xfrm>
            <a:off x="4526280" y="535838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5843015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Product velocity tracking — predict what will run out and when</a:t>
            </a:r>
          </a:p>
        </p:txBody>
      </p:sp>
      <p:sp>
        <p:nvSpPr>
          <p:cNvPr id="34" name="Oval 33"/>
          <p:cNvSpPr/>
          <p:nvPr/>
        </p:nvSpPr>
        <p:spPr>
          <a:xfrm>
            <a:off x="4526280" y="5888735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138160" y="3337560"/>
            <a:ext cx="3520440" cy="320040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38160" y="3337560"/>
            <a:ext cx="35204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321040" y="347472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34930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Queue Intelligence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8862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Predict congestion. Act before customers get frustrated.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25196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Live queue length monitoring across all checkout counters</a:t>
            </a:r>
          </a:p>
        </p:txBody>
      </p:sp>
      <p:sp>
        <p:nvSpPr>
          <p:cNvPr id="41" name="Oval 40"/>
          <p:cNvSpPr/>
          <p:nvPr/>
        </p:nvSpPr>
        <p:spPr>
          <a:xfrm>
            <a:off x="8321040" y="429768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21040" y="4782312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AI-powered congestion prediction — alerts 10-15 minutes before peak</a:t>
            </a:r>
          </a:p>
        </p:txBody>
      </p:sp>
      <p:sp>
        <p:nvSpPr>
          <p:cNvPr id="43" name="Oval 42"/>
          <p:cNvSpPr/>
          <p:nvPr/>
        </p:nvSpPr>
        <p:spPr>
          <a:xfrm>
            <a:off x="8321040" y="482803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21040" y="5312664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Smart recommendations to open additional billing counters proactively</a:t>
            </a:r>
          </a:p>
        </p:txBody>
      </p:sp>
      <p:sp>
        <p:nvSpPr>
          <p:cNvPr id="45" name="Oval 44"/>
          <p:cNvSpPr/>
          <p:nvPr/>
        </p:nvSpPr>
        <p:spPr>
          <a:xfrm>
            <a:off x="8321040" y="535838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21040" y="5843015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Average wait time and service time tracking for operational benchmarking</a:t>
            </a:r>
          </a:p>
        </p:txBody>
      </p:sp>
      <p:sp>
        <p:nvSpPr>
          <p:cNvPr id="47" name="Oval 46"/>
          <p:cNvSpPr/>
          <p:nvPr/>
        </p:nvSpPr>
        <p:spPr>
          <a:xfrm>
            <a:off x="8321040" y="5888735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From Camera Feed to Business Decision in Under 50ms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Our system follows a simple four-step pipeline. Every step happens on-device — no data ever leaves the store.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105156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59152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Smart cameras capture live RTSP video streams from strategic positions — entry gates, shelf aisles, billing counters. No special hardware needed — works with standard IP cameras.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11064240" cy="105156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324612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547872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On-device AI models (YOLOv8-nano, DeepSORT, MobileNetV3) process every frame in real time. People are detected and tracked anonymously. Shelves are scanned for gaps. Queues are counted and measured.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97680"/>
            <a:ext cx="11064240" cy="105156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" y="44348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36592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The analytics engine aggregates detections into business metrics — footfall trends, dwell times, stock levels, queue predictions. Rule-based and ML-driven alerts are triggered automatically.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4924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86400"/>
            <a:ext cx="11064240" cy="105156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2960" y="56235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925312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Actionable insights are delivered instantly — mobile push alerts for staff, live dashboard for managers, daily reports for owners. POS and inventory systems are updated via API integration.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6400800"/>
            <a:ext cx="6675120" cy="320040"/>
          </a:xfrm>
          <a:prstGeom prst="roundRect">
            <a:avLst/>
          </a:prstGeom>
          <a:solidFill>
            <a:srgbClr val="1A224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26080" y="6419088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End-to-end latency: &lt;50ms  |  Accuracy: 97%+  |  Works 100% offline  |  Zero PII collected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Edge-First, Cloud-Optional System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Everything critical runs at the edge. Cloud is optional — used only for multi-store aggregation and long-term analytics.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64240" cy="109728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2004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PERCEPTION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Cameras &amp; Sensors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Standard IP cameras with RTSP streaming positioned at entry/exit, shelf aisles, and billing counters. Optional depth sensors for improved accuracy.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1234440" cy="77724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IP Cameras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RTSP Stream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828800"/>
            <a:ext cx="1234440" cy="77724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18745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Depth Sensors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1945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3D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828800"/>
            <a:ext cx="1234440" cy="77724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18745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Local NVR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1945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Recording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1828800"/>
            <a:ext cx="1234440" cy="77724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0" y="18745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PoE Switch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21945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Power+Data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7889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926080"/>
            <a:ext cx="11064240" cy="109728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1520" y="3017520"/>
            <a:ext cx="320040" cy="9144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8872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INTELLIGENCE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200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On-Device AI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429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Qualcomm QCS8550 / Jetson Orin running optimized neural networks. YOLOv8-nano for detection, DeepSORT for tracking, custom models for shelf analysis.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063240"/>
            <a:ext cx="1234440" cy="77724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1089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YOLOv8-nano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4290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Detection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3063240"/>
            <a:ext cx="1234440" cy="77724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0" y="31089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DeepSORT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4290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Tracking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063240"/>
            <a:ext cx="1234440" cy="77724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0" y="31089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MobileNetV3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4290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Recognition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15600" y="3063240"/>
            <a:ext cx="1234440" cy="77724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515600" y="31089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LSTM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34290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Prediction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0233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160520"/>
            <a:ext cx="11064240" cy="109728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31520" y="4251960"/>
            <a:ext cx="320040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8872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ANALYTICS 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4434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Business Logic &amp; Decisions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6634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Real-time aggregation of detections into KPIs. Rule engine for alerts. Time-series analysis for trend detection. Predictive models for queue forecasting.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4297680"/>
            <a:ext cx="1234440" cy="77724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43434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KPI Engine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6634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Metrics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0" y="4297680"/>
            <a:ext cx="1234440" cy="77724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72400" y="43434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Alert Rules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46634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Triggers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0" y="4297680"/>
            <a:ext cx="1234440" cy="77724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144000" y="43434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Trend Analysis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46634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Patterns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15600" y="4297680"/>
            <a:ext cx="1234440" cy="77724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15600" y="43434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Predictions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46634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Forecasts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0" y="5257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5394960"/>
            <a:ext cx="11064240" cy="109728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731520" y="5486400"/>
            <a:ext cx="320040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88720" y="5440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PRESENTATION LAYER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88720" y="5669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Dashboard &amp; Integration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88720" y="58978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React.js web dashboard, React Native mobile app for staff alerts, REST/MQTT APIs for POS and ERP integration. Optional cloud sync for multi-store view.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0" y="5532120"/>
            <a:ext cx="1234440" cy="77724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00800" y="55778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Web Dashboard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58978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React.js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772400" y="5532120"/>
            <a:ext cx="1234440" cy="77724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772400" y="55778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Mobile App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0" y="58978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Alerts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44000" y="5532120"/>
            <a:ext cx="1234440" cy="77724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144000" y="55778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POS/ERP API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0" y="58978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515600" y="5532120"/>
            <a:ext cx="1234440" cy="77724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515600" y="55778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Cloud Sync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15600" y="58978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Optional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Shopper Analytics — Know Your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Most Indian retailers have no idea how many customers walk in, where they go, or what catches their attention. Our shopper analytics module changes that — completely anonymously.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760720" cy="96012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233172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Footfall Counting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603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Bi-directional people counters at entry/exit using YOLOv8 + DeepSORT. Handles crowds, occlusions, and groups. Accuracy: 97%+ tested on 10K+ frames.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5760720" cy="96012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1520" y="3429000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83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Zone Traffic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57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Virtual zones mapped to store sections. Track how many customers visit each department — by hour, by day, by week. Identify dead zones and hot spots.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5760720" cy="96012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452628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80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Dwell Time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7548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Measure exactly how long shoppers linger near specific products, promotional displays, or end-caps. High dwell + low conversion = pricing or placement problem.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399"/>
            <a:ext cx="5760720" cy="96012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1520" y="5623559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5778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Movement Heatmaps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85215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Aggregate all anonymous trajectories into visual heatmaps. Store managers instantly see traffic flow, bottlenecks, and underperforming areas.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1325880"/>
            <a:ext cx="5029200" cy="256032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LIVE ANALYTICS SNAPSHOT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Today's Footfall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2,847 visitors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1828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+12% vs last Monday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128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Peak Hour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2128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12:30 PM - 1:30 PM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22128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437 visitors in 1 hour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5968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Avg Dwell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5968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4.2 minutes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25968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Highest: Electronics (7.1 min)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9809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Zone Champion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9809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Snacks Aisle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9809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892 visits today (31%)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364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Conversion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364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34.2%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33649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+3% since layout change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4114800"/>
            <a:ext cx="5029200" cy="246888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STORE HEATMAP (SAMPLE)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4663440"/>
            <a:ext cx="713232" cy="3931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0" y="4736592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Entry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35240" y="4663440"/>
            <a:ext cx="713232" cy="3931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35240" y="4736592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Promo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4663440"/>
            <a:ext cx="713232" cy="3931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12480" y="4736592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Grocery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89720" y="4663440"/>
            <a:ext cx="713232" cy="3931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89720" y="4736592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Snacks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66960" y="4663440"/>
            <a:ext cx="713232" cy="3931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966960" y="4736592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Dairy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744200" y="4663440"/>
            <a:ext cx="713232" cy="3931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744200" y="4736592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Billing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0" y="5120640"/>
            <a:ext cx="713232" cy="3931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635240" y="5120640"/>
            <a:ext cx="713232" cy="3931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412480" y="5120640"/>
            <a:ext cx="713232" cy="3931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189720" y="5120640"/>
            <a:ext cx="713232" cy="3931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966960" y="5120640"/>
            <a:ext cx="713232" cy="3931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744200" y="5120640"/>
            <a:ext cx="713232" cy="3931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858000" y="5577840"/>
            <a:ext cx="713232" cy="3931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635240" y="5577840"/>
            <a:ext cx="713232" cy="3931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412480" y="5577840"/>
            <a:ext cx="713232" cy="3931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189720" y="5577840"/>
            <a:ext cx="713232" cy="3931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966960" y="5577840"/>
            <a:ext cx="713232" cy="3931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0744200" y="5577840"/>
            <a:ext cx="713232" cy="3931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58000" y="61722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Red = High Traffic    Amber = Medium    Green = Low    Cyan = Very Low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Inventory Intelligence — Never Miss a Stock-Out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 single out-of-stock event costs a retailer 4% of daily revenue on average. Our shelf-facing cameras detect gaps within seconds — not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943600" cy="365760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SHELF MONITORING PIPELINE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51460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68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4871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Shelf cameras capture images at configurable intervals (every 30s - 5min)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2852928"/>
            <a:ext cx="25400" cy="228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3108960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063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0815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YOLOv8 identifies products, empty slots, and misplaced items on each shelf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" y="3447288"/>
            <a:ext cx="25400" cy="228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60" y="370332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57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67588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AI compares live shelf state against the planogram — the ideal product layout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" y="4041648"/>
            <a:ext cx="254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2960" y="429768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51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27024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Non-compliance or stock-outs trigger instant push notifications to floor staff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" y="4636008"/>
            <a:ext cx="254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2960" y="4892040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846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8646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System tracks patterns — predicts which products will run out and when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1965960"/>
            <a:ext cx="4846320" cy="182880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LIVE STOCK 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0" y="2423160"/>
            <a:ext cx="448056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40880" y="24414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Category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4414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Stock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24414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2743200"/>
            <a:ext cx="4480560" cy="237744"/>
          </a:xfrm>
          <a:prstGeom prst="rect">
            <a:avLst/>
          </a:prstGeom>
          <a:solidFill>
            <a:srgbClr val="1A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40880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1F5F9"/>
                </a:solidFill>
                <a:latin typeface="Segoe UI"/>
              </a:defRPr>
            </a:pPr>
            <a:r>
              <a:t>Dairy &amp; Frozen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94%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Healthy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2999232"/>
            <a:ext cx="4480560" cy="237744"/>
          </a:xfrm>
          <a:prstGeom prst="rect">
            <a:avLst/>
          </a:prstGeom>
          <a:solidFill>
            <a:srgbClr val="111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40880" y="29992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1F5F9"/>
                </a:solidFill>
                <a:latin typeface="Segoe UI"/>
              </a:defRPr>
            </a:pPr>
            <a:r>
              <a:t>Snacks &amp; Drinks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29992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78%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29992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OK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0" y="3255264"/>
            <a:ext cx="4480560" cy="237744"/>
          </a:xfrm>
          <a:prstGeom prst="rect">
            <a:avLst/>
          </a:prstGeom>
          <a:solidFill>
            <a:srgbClr val="1A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40880" y="32552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1F5F9"/>
                </a:solidFill>
                <a:latin typeface="Segoe UI"/>
              </a:defRPr>
            </a:pPr>
            <a:r>
              <a:t>Personal Care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32552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41%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32552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LOW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49440" y="3511296"/>
            <a:ext cx="4480560" cy="237744"/>
          </a:xfrm>
          <a:prstGeom prst="rect">
            <a:avLst/>
          </a:prstGeom>
          <a:solidFill>
            <a:srgbClr val="111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40880" y="35112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1F5F9"/>
                </a:solidFill>
                <a:latin typeface="Segoe UI"/>
              </a:defRPr>
            </a:pPr>
            <a:r>
              <a:t>Household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35112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  <a:latin typeface="Segoe UI"/>
              </a:defRPr>
            </a:pPr>
            <a:r>
              <a:t>18%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35112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66560" y="3977639"/>
            <a:ext cx="4846320" cy="164592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040880" y="4069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PLANOGRAM COMPLIANCE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4434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Overall Score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4348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Segoe UI"/>
              </a:defRPr>
            </a:pPr>
            <a:r>
              <a:t>87%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44348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Up from 62% before AI deployment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47091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Misplaced Items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47091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Segoe UI"/>
              </a:defRPr>
            </a:pPr>
            <a:r>
              <a:t>23 detected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0" y="47091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Auto-flagged for staff action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0" y="4983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Empty Facings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4983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8 critical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0" y="49834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Alerts sent to floor team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0" y="525779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Avg Response Time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5257799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Segoe UI"/>
              </a:defRPr>
            </a:pPr>
            <a:r>
              <a:t>4.2 min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75520" y="525779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Down from 45 min (manual)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" y="5806440"/>
            <a:ext cx="11064240" cy="640080"/>
          </a:xfrm>
          <a:prstGeom prst="roundRect">
            <a:avLst/>
          </a:prstGeom>
          <a:solidFill>
            <a:srgbClr val="1A224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2960" y="587044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IMPACT:  Stock-out detection time reduced from 4+ hours (manual) to &lt;30 seconds (AI)  |  Replenishment response improved by 10x  |  Revenue recovery: 3-5% of daily sales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Queue Intelligence — Predict, Prevent, Perform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67% of Indian shoppers have abandoned a purchase due to long queues. Our system predicts congestion 10-15 minutes before it becomes a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7589520" cy="429768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LIVE QUEUE MONITOR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722376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487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Counter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487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87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Wait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4871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4871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 Recommendation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834640"/>
            <a:ext cx="7223760" cy="329184"/>
          </a:xfrm>
          <a:prstGeom prst="rect">
            <a:avLst/>
          </a:prstGeom>
          <a:solidFill>
            <a:srgbClr val="1A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852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Counter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852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852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~4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8529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8529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Normal — no action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182112"/>
            <a:ext cx="7223760" cy="329184"/>
          </a:xfrm>
          <a:prstGeom prst="rect">
            <a:avLst/>
          </a:prstGeom>
          <a:solidFill>
            <a:srgbClr val="111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200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Counter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200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200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Segoe UI"/>
              </a:defRPr>
            </a:pPr>
            <a:r>
              <a:t>~8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2004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Segoe UI"/>
              </a:defRPr>
            </a:pPr>
            <a:r>
              <a:t>Monitor — approaching threshold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529584"/>
            <a:ext cx="7223760" cy="329184"/>
          </a:xfrm>
          <a:prstGeom prst="rect">
            <a:avLst/>
          </a:prstGeom>
          <a:solidFill>
            <a:srgbClr val="1A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5478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Counter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5478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35478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~14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5478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547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ALERT: Recommend opening Counter 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877056"/>
            <a:ext cx="7223760" cy="329184"/>
          </a:xfrm>
          <a:prstGeom prst="rect">
            <a:avLst/>
          </a:prstGeom>
          <a:solidFill>
            <a:srgbClr val="111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Counter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---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---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38953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CLOSED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8953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&gt;&gt; OPEN NOW to prevent congestion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224528"/>
            <a:ext cx="7223760" cy="329184"/>
          </a:xfrm>
          <a:prstGeom prst="rect">
            <a:avLst/>
          </a:prstGeom>
          <a:solidFill>
            <a:srgbClr val="1A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42428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Counter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428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---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42428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---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42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CLOSED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42428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Standby — activate if trend continues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663440"/>
            <a:ext cx="7223760" cy="1417320"/>
          </a:xfrm>
          <a:prstGeom prst="roundRect">
            <a:avLst/>
          </a:prstGeom>
          <a:solidFill>
            <a:srgbClr val="1A224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5840" y="475488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AI PREDICTION ENGINE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Segoe UI"/>
              </a:defRPr>
            </a:pPr>
            <a:r>
              <a:t>Congestion Alert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0" y="5074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Counter 3 will exceed 15-person threshold in ~8 minutes based on current arrival 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Segoe UI"/>
              </a:defRPr>
            </a:pPr>
            <a:r>
              <a:t>Peak Forecast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5394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Expected peak at 6:30 PM. Recommend pre-staffing 4 counters by 6:15 PM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Segoe UI"/>
              </a:defRPr>
            </a:pPr>
            <a:r>
              <a:t>Trend Insight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77440" y="5715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Tuesday evenings show 23% higher footfall than other weekdays — plan accordingly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1965960"/>
            <a:ext cx="3200400" cy="429768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95360" y="2057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MEASURED IMPACT</a:t>
            </a:r>
          </a:p>
        </p:txBody>
      </p:sp>
      <p:sp>
        <p:nvSpPr>
          <p:cNvPr id="55" name="Oval 54"/>
          <p:cNvSpPr/>
          <p:nvPr/>
        </p:nvSpPr>
        <p:spPr>
          <a:xfrm>
            <a:off x="8686800" y="24688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35%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72600" y="2514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Reduction in average wait time</a:t>
            </a:r>
          </a:p>
        </p:txBody>
      </p:sp>
      <p:sp>
        <p:nvSpPr>
          <p:cNvPr id="57" name="Oval 56"/>
          <p:cNvSpPr/>
          <p:nvPr/>
        </p:nvSpPr>
        <p:spPr>
          <a:xfrm>
            <a:off x="8686800" y="32004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90%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7260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Queue prediction accuracy</a:t>
            </a:r>
          </a:p>
        </p:txBody>
      </p:sp>
      <p:sp>
        <p:nvSpPr>
          <p:cNvPr id="59" name="Oval 58"/>
          <p:cNvSpPr/>
          <p:nvPr/>
        </p:nvSpPr>
        <p:spPr>
          <a:xfrm>
            <a:off x="8686800" y="39319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25%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72600" y="3977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Increase in customer throughput</a:t>
            </a:r>
          </a:p>
        </p:txBody>
      </p:sp>
      <p:sp>
        <p:nvSpPr>
          <p:cNvPr id="61" name="Oval 60"/>
          <p:cNvSpPr/>
          <p:nvPr/>
        </p:nvSpPr>
        <p:spPr>
          <a:xfrm>
            <a:off x="8686800" y="46634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40%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72600" y="4709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Reduction in cart abandonment</a:t>
            </a:r>
          </a:p>
        </p:txBody>
      </p:sp>
      <p:sp>
        <p:nvSpPr>
          <p:cNvPr id="63" name="Oval 62"/>
          <p:cNvSpPr/>
          <p:nvPr/>
        </p:nvSpPr>
        <p:spPr>
          <a:xfrm>
            <a:off x="8686800" y="5394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10 min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7260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Earlier congestion detection vs manual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WHY EDGE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The Edge Advantage — Why Not Cloud?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Cloud-based retail analytics fails in India. Latency kills real-time decisions. Bandwidth costs are prohibitive. Internet outages mean complete system failure. And sending video to the cloud violates privacy regulations. Edge AI solves all of this.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1064240" cy="384048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106984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21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Parameter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219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Cloud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22219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Edge AI (RetailEdge)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59" y="2221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Our Advantage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10698480" cy="411480"/>
          </a:xfrm>
          <a:prstGeom prst="rect">
            <a:avLst/>
          </a:prstGeom>
          <a:solidFill>
            <a:srgbClr val="1A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697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Response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F4444"/>
                </a:solidFill>
                <a:latin typeface="Segoe UI"/>
              </a:defRPr>
            </a:pPr>
            <a:r>
              <a:t>200-500ms (round trip)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79" y="2697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10-50ms (local)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5-10x faster decisions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090672"/>
            <a:ext cx="10698480" cy="411480"/>
          </a:xfrm>
          <a:prstGeom prst="rect">
            <a:avLst/>
          </a:prstGeom>
          <a:solidFill>
            <a:srgbClr val="111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136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Bandwidth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F4444"/>
                </a:solidFill>
                <a:latin typeface="Segoe UI"/>
              </a:defRPr>
            </a:pPr>
            <a:r>
              <a:t>5-20 Mbps per camera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79" y="31363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&lt; 0.1 Mbps (metadata only)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31363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99% bandwidth savings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529584"/>
            <a:ext cx="10698480" cy="411480"/>
          </a:xfrm>
          <a:prstGeom prst="rect">
            <a:avLst/>
          </a:prstGeom>
          <a:solidFill>
            <a:srgbClr val="1A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5753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Internet Dependency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575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F4444"/>
                </a:solidFill>
                <a:latin typeface="Segoe UI"/>
              </a:defRPr>
            </a:pPr>
            <a:r>
              <a:t>100% — fails when offline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79" y="35753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0% — fully autonomous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59" y="35753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Works in Tier-2/3 India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968496"/>
            <a:ext cx="10698480" cy="411480"/>
          </a:xfrm>
          <a:prstGeom prst="rect">
            <a:avLst/>
          </a:prstGeom>
          <a:solidFill>
            <a:srgbClr val="111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40142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Data Privacy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0142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F4444"/>
                </a:solidFill>
                <a:latin typeface="Segoe UI"/>
              </a:defRPr>
            </a:pPr>
            <a:r>
              <a:t>Video sent to cloud servers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79" y="40142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All data stays on-premise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59" y="40142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DPDP Act compliant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407408"/>
            <a:ext cx="10698480" cy="411480"/>
          </a:xfrm>
          <a:prstGeom prst="rect">
            <a:avLst/>
          </a:prstGeom>
          <a:solidFill>
            <a:srgbClr val="1A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4453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Operating Cost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44531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F4444"/>
                </a:solidFill>
                <a:latin typeface="Segoe UI"/>
              </a:defRPr>
            </a:pPr>
            <a:r>
              <a:t>Rs. 15-30K/store/month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79" y="44531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Rs. 5-10K/store/month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59" y="4453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50-70% cost reduction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846320"/>
            <a:ext cx="10698480" cy="411480"/>
          </a:xfrm>
          <a:prstGeom prst="rect">
            <a:avLst/>
          </a:prstGeom>
          <a:solidFill>
            <a:srgbClr val="111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Scalability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4892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F4444"/>
                </a:solidFill>
                <a:latin typeface="Segoe UI"/>
              </a:defRPr>
            </a:pPr>
            <a:r>
              <a:t>Costs grow with bandwidth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79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Fixed edge hardware 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59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Predictable economics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285232"/>
            <a:ext cx="10698480" cy="411480"/>
          </a:xfrm>
          <a:prstGeom prst="rect">
            <a:avLst/>
          </a:prstGeom>
          <a:solidFill>
            <a:srgbClr val="1A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960" y="5330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Setup Complexity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5330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F4444"/>
                </a:solidFill>
                <a:latin typeface="Segoe UI"/>
              </a:defRPr>
            </a:pPr>
            <a:r>
              <a:t>Cloud infra + VPN +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79" y="53309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Plug-and-play edge box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59" y="5330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Deploy in hours, not weeks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71600" y="6126480"/>
            <a:ext cx="9418320" cy="457200"/>
          </a:xfrm>
          <a:prstGeom prst="roundRect">
            <a:avLst/>
          </a:prstGeom>
          <a:solidFill>
            <a:srgbClr val="1A224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554480" y="6153912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Bottom line: Edge AI isn't just better — it's the ONLY approach that works reliably across India's diverse retail landscape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PRIVACY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Privacy by Design — Not an Afterthought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India's Digital Personal Data Protection Act (DPDP) 2023 makes privacy non-negotiable. RetailEdge AI was designed from day one to be privacy-first — not privacy-patched.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486400" cy="141732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08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No Facial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We never identify WHO someone 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Our system detects people as anonymous bounding boxes and skeletal keypoints. No face detection, no facial encoding, no biometric data — ever. Customers are tracked as anonymous IDs that reset every session.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20240"/>
            <a:ext cx="5486400" cy="141732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920240"/>
            <a:ext cx="50800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Zero PII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677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We never store personally identifiable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514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No photos, no videos of individuals, no demographic profiling. Only aggregate statistical data is stored — counts, durations, zone metrics. Raw video frames are discarded after processing.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40"/>
            <a:ext cx="5486400" cy="141732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520440"/>
            <a:ext cx="50800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611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On-Premise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679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Your data never leaves your store.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14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All AI inference happens on local edge hardware. Video streams are processed in-memory and never uploaded. Cloud sync (optional) only transmits anonymized KPI summaries — not raw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520440"/>
            <a:ext cx="5486400" cy="141732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3520440"/>
            <a:ext cx="508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3611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DPDP Act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8679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Built for India's privacy regulations.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114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Data minimization — collect only what's needed. Purpose limitation — data used only for retail analytics. Storage limitation — auto-purge policies. Full audit trail for regulatory inspections.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20640"/>
            <a:ext cx="5486400" cy="141732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5120640"/>
            <a:ext cx="50800" cy="1417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Transparency &amp; Consent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468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Customers always know what's happening.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715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Clear in-store signage explaining anonymous analytics. No covert surveillance. Opt-out mechanisms available. Regular compliance audits built into the platform.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5120640"/>
            <a:ext cx="5486400" cy="141732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5120640"/>
            <a:ext cx="50800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Security by Default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468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Enterprise-grade data protection.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715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AES-256 encryption for all stored data. TLS 1.3 for any data transmission. Role-based access control. Tamper-proof audit logs. Secure boot on edge devices.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What Powers RetailEdge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66160" cy="521208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56616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egoe UI"/>
              </a:defRPr>
            </a:pPr>
            <a:r>
              <a:t>Computer Vision &amp;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3291840" cy="731520"/>
          </a:xfrm>
          <a:prstGeom prst="roundRect">
            <a:avLst/>
          </a:prstGeom>
          <a:solidFill>
            <a:srgbClr val="1A224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YOLOv8-nano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Real-time object detection optimized for edge. 97%+ mAP on retail datasets.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88920"/>
            <a:ext cx="3291840" cy="731520"/>
          </a:xfrm>
          <a:prstGeom prst="roundRect">
            <a:avLst/>
          </a:prstGeom>
          <a:solidFill>
            <a:srgbClr val="1A224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8346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DeepSORT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815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Multi-object tracking with Re-ID. Handles occlusions and re-entry.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3291840" cy="731520"/>
          </a:xfrm>
          <a:prstGeom prst="roundRect">
            <a:avLst/>
          </a:prstGeom>
          <a:solidFill>
            <a:srgbClr val="1A224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MobileNetV3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502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Lightweight product classification. 95% accuracy at 2ms inference.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26279"/>
            <a:ext cx="3291840" cy="731520"/>
          </a:xfrm>
          <a:prstGeom prst="roundRect">
            <a:avLst/>
          </a:prstGeom>
          <a:solidFill>
            <a:srgbClr val="1A224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57199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LSTM Networks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18887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Time-series prediction for queue forecasting and trend analysis.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394960"/>
            <a:ext cx="3291840" cy="731520"/>
          </a:xfrm>
          <a:prstGeom prst="roundRect">
            <a:avLst/>
          </a:prstGeom>
          <a:solidFill>
            <a:srgbClr val="1A224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4406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OpenCV + NumPy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875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Image preprocessing, perspective correction, heatmap generation.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1371600"/>
            <a:ext cx="3566160" cy="521208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1371600"/>
            <a:ext cx="356616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Edge Hardware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1920240"/>
            <a:ext cx="3291840" cy="731520"/>
          </a:xfrm>
          <a:prstGeom prst="roundRect">
            <a:avLst/>
          </a:prstGeom>
          <a:solidFill>
            <a:srgbClr val="1A224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3440" y="1965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Qualcomm QCS8550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221284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Primary SoC with Hexagon DSP + AI Engine. 48 TOPS at 15W TDP.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2788920"/>
            <a:ext cx="3291840" cy="731520"/>
          </a:xfrm>
          <a:prstGeom prst="roundRect">
            <a:avLst/>
          </a:prstGeom>
          <a:solidFill>
            <a:srgbClr val="1A224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63440" y="28346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Qualcomm QCS6490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30815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Cost-optimized SoC for small stores. 12 TOPS performance.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80" y="3657600"/>
            <a:ext cx="3291840" cy="731520"/>
          </a:xfrm>
          <a:prstGeom prst="roundRect">
            <a:avLst/>
          </a:prstGeom>
          <a:solidFill>
            <a:srgbClr val="1A224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63440" y="37033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SNPE / QNN SDK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9502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Qualcomm's neural processing SDK for optimized model deployment.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4526279"/>
            <a:ext cx="3291840" cy="731520"/>
          </a:xfrm>
          <a:prstGeom prst="roundRect">
            <a:avLst/>
          </a:prstGeom>
          <a:solidFill>
            <a:srgbClr val="1A224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63440" y="457199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Standard IP Cameras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818887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Any ONVIF/RTSP compatible camera. No proprietary hardware needed.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5394960"/>
            <a:ext cx="3291840" cy="731520"/>
          </a:xfrm>
          <a:prstGeom prst="roundRect">
            <a:avLst/>
          </a:prstGeom>
          <a:solidFill>
            <a:srgbClr val="1A224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63440" y="54406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Local Storage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56875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64-128 GB eMMC for model cache, analytics DB, and video buffer.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1371600"/>
            <a:ext cx="3566160" cy="521208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229600" y="1371600"/>
            <a:ext cx="35661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Software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66760" y="1920240"/>
            <a:ext cx="3291840" cy="731520"/>
          </a:xfrm>
          <a:prstGeom prst="roundRect">
            <a:avLst/>
          </a:prstGeom>
          <a:solidFill>
            <a:srgbClr val="1A224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03920" y="1965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Python + FastAPI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221284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Backend services with async processing. REST + WebSocket APIs.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66760" y="2788920"/>
            <a:ext cx="3291840" cy="731520"/>
          </a:xfrm>
          <a:prstGeom prst="roundRect">
            <a:avLst/>
          </a:prstGeom>
          <a:solidFill>
            <a:srgbClr val="1A224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03920" y="28346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React.js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30815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Responsive web dashboard with real-time data visualization.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66760" y="3657600"/>
            <a:ext cx="3291840" cy="731520"/>
          </a:xfrm>
          <a:prstGeom prst="roundRect">
            <a:avLst/>
          </a:prstGeom>
          <a:solidFill>
            <a:srgbClr val="1A224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03920" y="37033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React Native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39502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Cross-platform mobile app for staff alerts and floor management.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66760" y="4526279"/>
            <a:ext cx="3291840" cy="731520"/>
          </a:xfrm>
          <a:prstGeom prst="roundRect">
            <a:avLst/>
          </a:prstGeom>
          <a:solidFill>
            <a:srgbClr val="1A224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03920" y="457199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SQLite + PostgreSQL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4818887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Edge: SQLite for local persistence. Cloud: PostgreSQL for aggregation.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66760" y="5394960"/>
            <a:ext cx="3291840" cy="731520"/>
          </a:xfrm>
          <a:prstGeom prst="roundRect">
            <a:avLst/>
          </a:prstGeom>
          <a:solidFill>
            <a:srgbClr val="1A224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03920" y="54406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MQTT + gRPC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0" y="56875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Lightweight messaging for real-time alerts and inter-service comms.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What Retailers See — Real-Time Operations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11430000" cy="5212080"/>
          </a:xfrm>
          <a:prstGeom prst="roundRect">
            <a:avLst/>
          </a:prstGeom>
          <a:solidFill>
            <a:srgbClr val="0F132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457200"/>
          </a:xfrm>
          <a:prstGeom prst="roundRect">
            <a:avLst/>
          </a:prstGeom>
          <a:solidFill>
            <a:srgbClr val="1A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RetailEdge AI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4356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Store: MegaMart Connaught Place  | 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737360" cy="914400"/>
          </a:xfrm>
          <a:prstGeom prst="roundRect">
            <a:avLst/>
          </a:prstGeom>
          <a:solidFill>
            <a:srgbClr val="11173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Footfall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2,847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+12%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59" y="1920240"/>
            <a:ext cx="1737360" cy="914400"/>
          </a:xfrm>
          <a:prstGeom prst="roundRect">
            <a:avLst/>
          </a:prstGeom>
          <a:solidFill>
            <a:srgbClr val="11173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23159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Avg Wait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59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4.2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59" y="25603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-35%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920240"/>
            <a:ext cx="1737360" cy="914400"/>
          </a:xfrm>
          <a:prstGeom prst="roundRect">
            <a:avLst/>
          </a:prstGeom>
          <a:solidFill>
            <a:srgbClr val="11173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97679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Stock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87%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5603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-3%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199" y="1920240"/>
            <a:ext cx="1737360" cy="914400"/>
          </a:xfrm>
          <a:prstGeom prst="roundRect">
            <a:avLst/>
          </a:prstGeom>
          <a:solidFill>
            <a:srgbClr val="11173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2199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Conversion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199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34.2%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199" y="25603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+5%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1920240"/>
            <a:ext cx="1737360" cy="914400"/>
          </a:xfrm>
          <a:prstGeom prst="roundRect">
            <a:avLst/>
          </a:prstGeom>
          <a:solidFill>
            <a:srgbClr val="11173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19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Planogram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91%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25603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+8%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21240" y="1920240"/>
            <a:ext cx="1737360" cy="914400"/>
          </a:xfrm>
          <a:prstGeom prst="roundRect">
            <a:avLst/>
          </a:prstGeom>
          <a:solidFill>
            <a:srgbClr val="11173B"/>
          </a:solidFill>
          <a:ln w="63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2124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Active Alerts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5603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  <a:latin typeface="Segoe UI"/>
              </a:defRPr>
            </a:pPr>
            <a:r>
              <a:t>Action Needed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017520"/>
            <a:ext cx="5943600" cy="201168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ACTIVE ALERTS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3383280"/>
            <a:ext cx="5577840" cy="384048"/>
          </a:xfrm>
          <a:prstGeom prst="roundRect">
            <a:avLst/>
          </a:prstGeom>
          <a:solidFill>
            <a:srgbClr val="1A224B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22960" y="3438144"/>
            <a:ext cx="731520" cy="23774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34381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3438144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Household aisle stock at 18% — replenishment team dispatched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3840480"/>
            <a:ext cx="5577840" cy="384048"/>
          </a:xfrm>
          <a:prstGeom prst="roundRect">
            <a:avLst/>
          </a:prstGeom>
          <a:solidFill>
            <a:srgbClr val="1A224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22960" y="3895344"/>
            <a:ext cx="731520" cy="23774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" y="38953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3895344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Counter 3 queue at 11 people — recommend opening Counter 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297680"/>
            <a:ext cx="5577840" cy="384048"/>
          </a:xfrm>
          <a:prstGeom prst="roundRect">
            <a:avLst/>
          </a:prstGeom>
          <a:solidFill>
            <a:srgbClr val="1A224B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22960" y="4352544"/>
            <a:ext cx="731520" cy="23774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60" y="43525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INFO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91640" y="4352544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Electronics zone dwell time spike detected — promo may be working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5120" y="2971800"/>
            <a:ext cx="5029200" cy="201168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5800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ZONE PERFORMANCE (TODAY)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33832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Segoe UI"/>
              </a:defRPr>
            </a:pPr>
            <a:r>
              <a:t>Snacks &amp; Beverages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33832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Segoe UI"/>
              </a:defRPr>
            </a:pPr>
            <a:r>
              <a:t>892 visits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3383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4.1 min avg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36850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Segoe UI"/>
              </a:defRPr>
            </a:pPr>
            <a:r>
              <a:t>Dairy &amp; Frozen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368503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Segoe UI"/>
              </a:defRPr>
            </a:pPr>
            <a:r>
              <a:t>654 visits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36850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2.8 min avg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398678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Segoe UI"/>
              </a:defRPr>
            </a:pPr>
            <a:r>
              <a:t>Electronics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398678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Segoe UI"/>
              </a:defRPr>
            </a:pPr>
            <a:r>
              <a:t>421 visits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39867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7.1 min avg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42885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Segoe UI"/>
              </a:defRPr>
            </a:pPr>
            <a:r>
              <a:t>Personal Care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0" y="428853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Segoe UI"/>
              </a:defRPr>
            </a:pPr>
            <a:r>
              <a:t>387 visits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42885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3.5 min avg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45902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Segoe UI"/>
              </a:defRPr>
            </a:pPr>
            <a:r>
              <a:t>Household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9680" y="45902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298 visits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0" y="45902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2.1 min avg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5120640"/>
            <a:ext cx="11155680" cy="411480"/>
          </a:xfrm>
          <a:prstGeom prst="roundRect">
            <a:avLst/>
          </a:prstGeom>
          <a:solidFill>
            <a:srgbClr val="1A224B"/>
          </a:solidFill>
          <a:ln w="19050">
            <a:solidFill>
              <a:srgbClr val="1E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2960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Web Dashboard (React.js)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54096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Mobile App (React Native)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85232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POS/ERP Integration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16368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Multi-Store View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47504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Daily/Weekly Reports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8640" y="5669280"/>
            <a:ext cx="11155680" cy="64008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22960" y="57607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Access from anywhere: Web browser for managers  |  Mobile app push alerts for floor staff  |  REST API for POS/ERP integration  |  MQTT for real-time event streaming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The Numbers That Matter — Measurable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Every metric below is measurable. Every improvement is trackable. RetailEdge AI pays for itself in 6-8 months.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651760" cy="274320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65176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6B6D4"/>
                </a:solidFill>
                <a:latin typeface="Segoe UI"/>
              </a:defRPr>
            </a:pPr>
            <a: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Fewer Stock-Outs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AI detects empty shelves in seconds, not hours. Staff responds 10x faster. Revenue recovery: 3-5% of daily sales.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828800"/>
            <a:ext cx="2651760" cy="274320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1828800"/>
            <a:ext cx="26517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19659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59E0B"/>
                </a:solidFill>
                <a:latin typeface="Segoe UI"/>
              </a:defRPr>
            </a:pPr>
            <a:r>
              <a:t>35%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60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Shorter Queue Waits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71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Predictive alerts prevent congestion before it starts. Cart abandonment drops 40%. Customer satisfaction up 0.6 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28800"/>
            <a:ext cx="2651760" cy="274320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828800"/>
            <a:ext cx="26517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19659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0B981"/>
                </a:solidFill>
                <a:latin typeface="Segoe UI"/>
              </a:defRPr>
            </a:pPr>
            <a:r>
              <a:t>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60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Revenue Increase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971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Better product availability + faster checkout + optimized layouts = more completed transactions per day.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828800"/>
            <a:ext cx="2651760" cy="274320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89720" y="1828800"/>
            <a:ext cx="265176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9720" y="19659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3B82F6"/>
                </a:solidFill>
                <a:latin typeface="Segoe UI"/>
              </a:defRPr>
            </a:pPr>
            <a:r>
              <a:t>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560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Higher Staff Efficiency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971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Replace manual shelf checks and headcounts with automated AI alerts. Staff focuses on customers, not counting inventory.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11064240" cy="182880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846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ROI TIMELINE — FULL PAYBACK IN 6-8 MONTHS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5349240"/>
            <a:ext cx="9601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783080" y="5230368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5321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Month 1-2 — DEPLOY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760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Install cameras. Configure edge devices. Train models on store layout. Establish baselines.</a:t>
            </a:r>
          </a:p>
        </p:txBody>
      </p:sp>
      <p:sp>
        <p:nvSpPr>
          <p:cNvPr id="33" name="Oval 32"/>
          <p:cNvSpPr/>
          <p:nvPr/>
        </p:nvSpPr>
        <p:spPr>
          <a:xfrm>
            <a:off x="4434840" y="5230368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0" y="55321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Month 3-4 — MEASURE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5760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Stock-outs decrease 20%. Queue alerts go live. First data-driven staffing decisions. Initial ROI visible.</a:t>
            </a:r>
          </a:p>
        </p:txBody>
      </p:sp>
      <p:sp>
        <p:nvSpPr>
          <p:cNvPr id="36" name="Oval 35"/>
          <p:cNvSpPr/>
          <p:nvPr/>
        </p:nvSpPr>
        <p:spPr>
          <a:xfrm>
            <a:off x="7086600" y="5230368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5321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Month 5-6 — OPTIMIZE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760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AI models refined with store data. 35% efficiency gains. Layout optimization recommendations generated.</a:t>
            </a:r>
          </a:p>
        </p:txBody>
      </p:sp>
      <p:sp>
        <p:nvSpPr>
          <p:cNvPr id="39" name="Oval 38"/>
          <p:cNvSpPr/>
          <p:nvPr/>
        </p:nvSpPr>
        <p:spPr>
          <a:xfrm>
            <a:off x="9738359" y="5230368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59" y="55321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Month 7-12 — SCALE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59" y="5760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Full payback achieved. System expanded to more zones. Multi-store rollout begins. Continuous improvement.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MARKET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Scalable Across India's Entire Retail Spectrum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109728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ADDRESSABLE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$950B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116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India's total retail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83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$120B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Organized retail + large unorganized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SOM (Year 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$500M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0116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AI analytics for 50K+ stores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783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14M+ Stores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Potential reach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0116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From kirana to hypermarket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651760"/>
            <a:ext cx="3520440" cy="384048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2651760"/>
            <a:ext cx="352044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27889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KIRANA / SMALL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06324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1-2 cameras + single edge device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290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&gt; Entry/exit counting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72160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&gt; Basic queue alert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1421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&gt; Simple stock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3068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&gt; Mobile-only 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663440"/>
            <a:ext cx="2971800" cy="50292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69087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Rs. 15-25K one-time  |  Rs. 2-3K/month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257800"/>
            <a:ext cx="297180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27608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12 million+ stores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2651760"/>
            <a:ext cx="3520440" cy="384048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43400" y="2651760"/>
            <a:ext cx="35204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26280" y="27889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SUPERMARKET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306324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4-8 cameras + dedicated edge server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4290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&gt; Full shopper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372160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&gt; Multi-zone heatmaps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401421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&gt; Shelf monitoring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43068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&gt; Queue prediction engine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17720" y="4663440"/>
            <a:ext cx="2971800" cy="50292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09160" y="469087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Rs. 75K-1.5L one-time  |  Rs. 5-8K/month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17720" y="5257800"/>
            <a:ext cx="297180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09160" y="527608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50,000+ stores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2651760"/>
            <a:ext cx="3520440" cy="384048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138160" y="2651760"/>
            <a:ext cx="35204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21040" y="27889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RETAIL CHAIN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306324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10+ cameras/store + centralized mgmt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34290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&gt; Multi-store dashboard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372160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&gt; Chain-wide analytics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01421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&gt; ERP/POS 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43068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&gt; Custom AI model training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12480" y="4663440"/>
            <a:ext cx="2971800" cy="502920"/>
          </a:xfrm>
          <a:prstGeom prst="roundRect">
            <a:avLst/>
          </a:prstGeom>
          <a:solidFill>
            <a:srgbClr val="1A224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03920" y="469087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Rs. 2-5L/store one-time  |  Rs. 8-15K/month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412480" y="5257800"/>
            <a:ext cx="297180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03920" y="527608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5,000+ chains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828800" y="6400800"/>
            <a:ext cx="8503920" cy="320040"/>
          </a:xfrm>
          <a:prstGeom prst="roundRect">
            <a:avLst/>
          </a:prstGeom>
          <a:solidFill>
            <a:srgbClr val="1A224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011680" y="641908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Modular architecture: Start with 1 camera, scale to 100. Add features without redesign. Deploy via Docker.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Why RetailEdge AI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457200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60704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356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435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Cloud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435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Basic CCTV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35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Competitor 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4356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RetailEdge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874519"/>
            <a:ext cx="10607040" cy="365760"/>
          </a:xfrm>
          <a:prstGeom prst="rect">
            <a:avLst/>
          </a:prstGeom>
          <a:solidFill>
            <a:srgbClr val="1A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90195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Real-time Edge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19019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9019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90195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Partial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90195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YES — Full on-device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258567"/>
            <a:ext cx="10607040" cy="365760"/>
          </a:xfrm>
          <a:prstGeom prst="rect">
            <a:avLst/>
          </a:prstGeom>
          <a:solidFill>
            <a:srgbClr val="111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22859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Works 100% Offline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28599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28599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Video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28599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859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YES — All features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642615"/>
            <a:ext cx="10607040" cy="365760"/>
          </a:xfrm>
          <a:prstGeom prst="rect">
            <a:avLst/>
          </a:prstGeom>
          <a:solidFill>
            <a:srgbClr val="1A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267004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Latency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26700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200-500ms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26700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N/A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67004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100-300ms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267004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&lt;50ms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026663"/>
            <a:ext cx="10607040" cy="365760"/>
          </a:xfrm>
          <a:prstGeom prst="rect">
            <a:avLst/>
          </a:prstGeom>
          <a:solidFill>
            <a:srgbClr val="111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305409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DPDP 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305409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305409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No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05409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05409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Fully compliant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410711"/>
            <a:ext cx="10607040" cy="365760"/>
          </a:xfrm>
          <a:prstGeom prst="rect">
            <a:avLst/>
          </a:prstGeom>
          <a:solidFill>
            <a:srgbClr val="1A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343814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Shopper Heatmaps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343814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343814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43814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Basic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343814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Advanced + real-time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3794759"/>
            <a:ext cx="10607040" cy="365760"/>
          </a:xfrm>
          <a:prstGeom prst="rect">
            <a:avLst/>
          </a:prstGeom>
          <a:solidFill>
            <a:srgbClr val="111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382219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Shelf Monitoring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382219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Delayed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382219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382219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Manual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382219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Automated + AI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178807"/>
            <a:ext cx="10607040" cy="365760"/>
          </a:xfrm>
          <a:prstGeom prst="rect">
            <a:avLst/>
          </a:prstGeom>
          <a:solidFill>
            <a:srgbClr val="1A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1520" y="42062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Queue Prediction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08960" y="42062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Slow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0" y="42062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42062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42062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10-15 min ahead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4562855"/>
            <a:ext cx="10607040" cy="365760"/>
          </a:xfrm>
          <a:prstGeom prst="rect">
            <a:avLst/>
          </a:prstGeom>
          <a:solidFill>
            <a:srgbClr val="111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1520" y="459028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Multi-Store Mgmt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08960" y="459028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60" y="459028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66560" y="459028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Limited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0" y="459028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Full centralized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4946903"/>
            <a:ext cx="10607040" cy="365760"/>
          </a:xfrm>
          <a:prstGeom prst="rect">
            <a:avLst/>
          </a:prstGeom>
          <a:solidFill>
            <a:srgbClr val="1A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1520" y="49743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Monthly Cost/Store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08960" y="497433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Rs. 15-30K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37760" y="497433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Rs. 2-5K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0" y="497433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Rs. 10-20K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78240" y="49743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Rs. 5-10K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" y="5330951"/>
            <a:ext cx="10607040" cy="365760"/>
          </a:xfrm>
          <a:prstGeom prst="rect">
            <a:avLst/>
          </a:prstGeom>
          <a:solidFill>
            <a:srgbClr val="111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1520" y="535838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India Optimized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08960" y="535838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37760" y="535838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66560" y="535838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Partial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78240" y="535838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Built for Bharat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732520" y="1371600"/>
            <a:ext cx="24688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732520" y="5669280"/>
            <a:ext cx="24688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1371600" y="6080760"/>
            <a:ext cx="9418320" cy="457200"/>
          </a:xfrm>
          <a:prstGeom prst="roundRect">
            <a:avLst/>
          </a:prstGeom>
          <a:solidFill>
            <a:srgbClr val="1A224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554480" y="6108192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We are the only solution that combines Edge AI + Offline capability + Privacy compliance + India pricing in one platform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From 36-Hour Hackathon to Pan-India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029200" cy="521208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SIH 36-HOUR HACKATHON PLAN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82880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167128"/>
            <a:ext cx="25400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1783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0-6h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03911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Camera + RTSP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2402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Edge device 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44144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YOLOv8 model deploy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724912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063240"/>
            <a:ext cx="25400" cy="5303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267919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6-14h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6791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Core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93522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People detection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1363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Queue monitoring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3375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Shelf gap detection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3621024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3959352"/>
            <a:ext cx="25400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80160" y="35753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14-22h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5753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383133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Heatmap 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0325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Dwell time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233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LSTM queue predictor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4517136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4855464"/>
            <a:ext cx="25400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80160" y="447141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22-30h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447141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72744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React.js live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492861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WebSocket data feeds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12978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Push alert system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" y="5413248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53675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30-36h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53675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Demo Ready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56235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End-to-end testing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582472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Demo with live camera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602589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Pitch preparation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52160" y="1280160"/>
            <a:ext cx="5760720" cy="521208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0" y="13716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POST-HACKATHON ROADMAP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1828800"/>
            <a:ext cx="100584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35040" y="184708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Q1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18470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MVP + Pilot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2148840"/>
            <a:ext cx="5212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Production model optimization on Qualcomm SNPE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2331720"/>
            <a:ext cx="5212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Beta deployment in 3 pilot retail stores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2514600"/>
            <a:ext cx="5212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Performance benchmarking and model fine-tuning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2697480"/>
            <a:ext cx="5212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User feedback collection and iteration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35040" y="2926080"/>
            <a:ext cx="10058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35040" y="29443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Q2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29443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Feature Complete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3246120"/>
            <a:ext cx="5212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Advanced planogram compliance engine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3429000"/>
            <a:ext cx="5212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Multi-camera sensor fusion for accuracy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3611880"/>
            <a:ext cx="5212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POS system bidirectional integration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0" y="3794760"/>
            <a:ext cx="5212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Mobile app release for floor staff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0" y="4023360"/>
            <a:ext cx="100584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035040" y="4041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Q3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78040" y="40416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Scale Up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6480" y="4343400"/>
            <a:ext cx="5212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Multi-store centralized dashboard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4526280"/>
            <a:ext cx="5212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Automated model retraining pipeline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0" y="4709160"/>
            <a:ext cx="5212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Docker-based deployment automation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0" y="4892040"/>
            <a:ext cx="5212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- 50-store deployment target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35040" y="5120639"/>
            <a:ext cx="100584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035040" y="5138927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Q4 2026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78040" y="5138927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Market Launch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26480" y="5440679"/>
            <a:ext cx="5212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Retail chain partnership program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26480" y="5623559"/>
            <a:ext cx="5212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SaaS subscription model launch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6480" y="5806439"/>
            <a:ext cx="5212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Pan-India go-to-market strategy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26480" y="5989319"/>
            <a:ext cx="5212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- Target: 500+ stores by end of year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0" y="457200"/>
            <a:ext cx="4572000" cy="457200"/>
          </a:xfrm>
          <a:prstGeom prst="roundRect">
            <a:avLst/>
          </a:prstGeom>
          <a:solidFill>
            <a:srgbClr val="11173B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0" y="48463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Segoe UI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514600"/>
            <a:ext cx="21031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6B6D4"/>
                </a:solidFill>
                <a:latin typeface="Segoe UI"/>
              </a:defRPr>
            </a:pPr>
            <a:r>
              <a:t>RetailEdge AI — Transforming Indian Retail with Edge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383280"/>
            <a:ext cx="9418320" cy="228600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3474720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B82F6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840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Edge-First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84048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All AI runs on-device. &lt;50ms latency. Zero cloud dependency. Works offline everywhere in India.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187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Complete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18795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Shopper analytics + inventory monitoring + queue intelligence — unified in one system.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5354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Privacy-First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535424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No facial recognition. No PII. DPDP Act compliant. Customers trust it. Regulators approve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8828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Affordable at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882896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From Rs. 15K kirana deployments to multi-crore retail chains. Payback in 6-8 months.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2303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Qualcomm-Powered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230368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Built on industry-leading Qualcomm AI Engine and Hexagon DSP for maximum performance per watt.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5852160"/>
            <a:ext cx="6675120" cy="685800"/>
          </a:xfrm>
          <a:prstGeom prst="roundRect">
            <a:avLst/>
          </a:prstGeom>
          <a:solidFill>
            <a:srgbClr val="1117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0" y="589788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Problem Statement #26179  |  Hardware  |  Smart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17220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Organization: Qualcomm Inc  |  Edge AI for a Smarter Retail India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17/16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3355</Words>
  <Application>Microsoft Office PowerPoint</Application>
  <PresentationFormat>Widescreen</PresentationFormat>
  <Paragraphs>631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Monish P</cp:lastModifiedBy>
  <cp:revision>2</cp:revision>
  <dcterms:created xsi:type="dcterms:W3CDTF">2013-01-27T09:14:16Z</dcterms:created>
  <dcterms:modified xsi:type="dcterms:W3CDTF">2026-08-23T14:09:05Z</dcterms:modified>
  <cp:category/>
</cp:coreProperties>
</file>